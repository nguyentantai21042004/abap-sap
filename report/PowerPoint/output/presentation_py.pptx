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37719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09728" cy="30861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00C7FF"/>
                </a:solidFill>
                <a:latin typeface="Segoe UI"/>
              </a:rPr>
              <a:t>SAP Bug Tracking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10058400" cy="42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8211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E73C9"/>
                </a:solidFill>
                <a:latin typeface="Segoe UI"/>
              </a:rPr>
              <a:t>ZBUG_WS — v5.0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0B4CC"/>
                </a:solidFill>
                <a:latin typeface="Segoe UI"/>
              </a:rPr>
              <a:t>Nhóm ZBUG  │  FPT University Capstone  │  Tháng 4 năm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Nhóm Dự 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674"/>
                <a:gridCol w="1884496"/>
                <a:gridCol w="1108527"/>
                <a:gridCol w="1108527"/>
                <a:gridCol w="5986047"/>
              </a:tblGrid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Tài khoản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Họ tên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Mã SV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Vai trò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Trách nhiệm chính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DEV-237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Nguyễn Ngọc Đức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SE183121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Leader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Vòng đời trạng thái, Auto-Assign, Quản lý Dự án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DEV-089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Nguyễn Hoàng Anh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SE173545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Thiết kế CSDL, logic ABAP lõi, tài liệu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DEV-242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Nguyễn Hà Linh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SS170495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Màn hình Bug Detail (0300), FM tạo &amp; ghi log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DEV-061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Nguyễn Trọng Hiếu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SE180504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Bug List + Dashboard (0200), Search Engine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DEV-118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Bùi Anh Kha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SE181730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Tester / QC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Email, Upload bằng chứng, SmartForms, QA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6464808"/>
            <a:ext cx="98965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0B4CC"/>
                </a:solidFill>
                <a:latin typeface="Segoe UI"/>
              </a:rPr>
              <a:t>Tổng nỗ lực: ~35 ngày-người  |  Hệ thống: SAP S40, Client 324, ABAP 7.70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Bối Cảnh &amp; Vấn Đề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978408"/>
            <a:ext cx="110852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8E8F4"/>
                </a:solidFill>
                <a:latin typeface="Segoe UI"/>
              </a:rPr>
              <a:t>Triển khai SAP ERP song song nhiều module (MM, SD, FI, CO…) — không có công cụ theo dõi lỗi tập trung: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481328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DE73C9"/>
                </a:solidFill>
                <a:latin typeface="Segoe UI"/>
              </a:rPr>
              <a:t>Hậu quả thực tế: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11096"/>
            <a:ext cx="1108527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8E8F4"/>
                </a:solidFill>
                <a:latin typeface="Segoe UI"/>
              </a:rPr>
              <a:t>  •  Báo cáo lỗi phân tán qua bảng tính, email, Zalo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Developer nhận phân công không rõ ưu tiên hay module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Manager không thấy phân bổ workload theo thời gian thực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Không có bằng chứng có cấu trúc về báo cáo &amp; xác nhận sửa lỗi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30168"/>
            <a:ext cx="11085271" cy="2148840"/>
          </a:xfrm>
          <a:prstGeom prst="rect">
            <a:avLst/>
          </a:prstGeom>
          <a:solidFill>
            <a:srgbClr val="002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3630168"/>
            <a:ext cx="45720" cy="214884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685032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0C7FF"/>
                </a:solidFill>
                <a:latin typeface="Segoe UI"/>
              </a:rPr>
              <a:t>Giải pháp — ZBUG_WS: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105656"/>
            <a:ext cx="10856671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8E8F4"/>
                </a:solidFill>
                <a:latin typeface="Segoe UI"/>
              </a:rPr>
              <a:t>  •  Chạy native trên SAP — không cần license bổ sung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Truy cập qua 1 T-code duy nhất: ZBUG_WS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Toàn bộ dữ liệu trong bảng ABAP, UI là SAP GUI Dynpro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So Sánh: Hệ Thống Tham Chiếu vs ZBUG_WS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7984"/>
                <a:gridCol w="1773643"/>
                <a:gridCol w="1773644"/>
              </a:tblGrid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Tính năng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ZPG (Tham chiếu)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ZBUG_WS v5.0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Kiến trúc Module Pool (Type M)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Vòng đời 10 trạng thái + Popup chuyển đổi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Auto-assign theo SAP module / workload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Phân quyền tập trung qua Function Module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Audit log đầy đủ (ZBUG_HISTORY)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Thông báo email qua CL_BCS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Xuất PDF SmartForm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Dashboard Header realtime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Bug Search Engine (0210/0220)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613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Module Quản lý Dự án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Tổng Quan Hệ Thống — Bản Đồ Màn Hình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232"/>
                <a:gridCol w="8424805"/>
                <a:gridCol w="1330234"/>
              </a:tblGrid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Màn hình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Tên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Mới v5.0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0410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Tìm kiếm Dự án — điểm vào T-code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0400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Danh sách Dự án (ALV Grid)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0200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Bug List + Dashboard Header realtime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0300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Bug Detail — Tab Strip 6 tab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0370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Popup Chuyển Trạng Thái (Modal Dialog)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0500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Chi tiết Dự án + phân công người dùng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0210/0220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Bug Search — lọc đa trường + kết quả ALV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6464808"/>
            <a:ext cx="98965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0B4CC"/>
                </a:solidFill>
                <a:latin typeface="Segoe UI"/>
              </a:rPr>
              <a:t>Gói: ZBUGTRACK  |  Chương trình: Z_BUG_WORKSPACE_MP  |  6 ABAP Includes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Cấu Trúc Code — 6 ABAP Include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759"/>
                <a:gridCol w="8646512"/>
              </a:tblGrid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Include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Nội dung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Z_BUG_WS_TOP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Khai báo toàn cục, kiểu dữ liệu, hằng số 10 trạng thái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Z_BUG_WS_F00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Field catalog cho 5 ALV grid, class LCL_EVENT_HANDLER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Z_BUG_WS_PBO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Process Before Output — tất cả 9 màn hình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Z_BUG_WS_PAI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Process After Input — toàn bộ fcode handler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Z_BUG_WS_F01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Business Logic: save, change_status, auto_assign, email, history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Z_BUG_WS_F02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Helper: 10 F4 search help, long text API, SMW0 download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6464808"/>
            <a:ext cx="98965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0B4CC"/>
                </a:solidFill>
                <a:latin typeface="Segoe UI"/>
              </a:rPr>
              <a:t>Triển khai: SE38 → paste code → Ctrl+F2 (check) → Ctrl+F3 (activate)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Vòng Đời Lỗi — 10 Trạng Thái (v5.0)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116"/>
                <a:gridCol w="1995348"/>
                <a:gridCol w="8424807"/>
              </a:tblGrid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Mã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Tên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Chuyển đến được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New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Assigned (2), Waiting (W)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Assigned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In Progress (3), Rejected (R)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Fixed (5), Suspended (4), Rejected (R)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Suspended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Assigned (2)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Final Testing (6), Waiting (W)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Final Testing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Resolved (V), In Progress (3)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V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Resolved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— kết thúc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Rejected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— kết thúc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W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Waiting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Assigned (2), Final Testing (6)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031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Closed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— legacy, tương thích ngược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4944" y="5504688"/>
            <a:ext cx="45720" cy="512064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504688"/>
            <a:ext cx="11039551" cy="512064"/>
          </a:xfrm>
          <a:prstGeom prst="rect">
            <a:avLst/>
          </a:prstGeom>
          <a:solidFill>
            <a:srgbClr val="00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577840"/>
            <a:ext cx="108292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8E8F4"/>
                </a:solidFill>
                <a:latin typeface="Segoe UI"/>
              </a:rPr>
              <a:t>Quy tắc: STATUS luôn khóa trên màn hình 0300 — chỉ thay đổi qua Popup 0370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Engine Tự Động Phân Công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978408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0C7FF"/>
                </a:solidFill>
                <a:latin typeface="Segoe UI"/>
              </a:rPr>
              <a:t>Giai đoạn A — Khi tạo lỗi (BUG_TYPE = 'C'):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17320"/>
            <a:ext cx="11085271" cy="1664208"/>
          </a:xfrm>
          <a:prstGeom prst="rect">
            <a:avLst/>
          </a:prstGeom>
          <a:solidFill>
            <a:srgbClr val="00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417320"/>
            <a:ext cx="45720" cy="1664208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27048"/>
            <a:ext cx="10856671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D8F0"/>
                </a:solidFill>
                <a:latin typeface="Courier New"/>
              </a:rPr>
              <a:t>SELECT Dev từ ZBUG_USER_PROJEC (role='D', cùng project)
JOIN ZBUG_USERS WHERE sap_module = bug.module AND is_active='X'
COUNT active bugs (status IN '2','3','4','6') cho mỗi dev
→ Chọn dev có workload thấp nhất VÀ workload &lt; 5
   Tìm thấy  →  STATUS = '2' (Assigned), gửi email
   Không có  →  STATUS = 'W' (Waiting), báo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46120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0C7FF"/>
                </a:solidFill>
                <a:latin typeface="Segoe UI"/>
              </a:rPr>
              <a:t>Giai đoạn B — Khi chuyển sang Fixed (5):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3675888"/>
            <a:ext cx="11085271" cy="1463040"/>
          </a:xfrm>
          <a:prstGeom prst="rect">
            <a:avLst/>
          </a:prstGeom>
          <a:solidFill>
            <a:srgbClr val="00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3675888"/>
            <a:ext cx="45720" cy="146304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785616"/>
            <a:ext cx="10856671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D8F0"/>
                </a:solidFill>
                <a:latin typeface="Courier New"/>
              </a:rPr>
              <a:t>SELECT Tester từ project (role='T', cùng SAP module)
COUNT bugs Final Testing đang active cho mỗi tester
→ Chọn tester workload thấp nhất VÀ workload &lt; 5
   Tìm thấy  →  VERIFY_TESTER_ID, STATUS = '6' (Final Testing)
   Không có  →  STATUS = 'W' (Waiting)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Kiểm Soát Phân Quyền — Screen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821"/>
                <a:gridCol w="3547286"/>
                <a:gridCol w="6651164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Group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Trường bị ảnh hưởng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Điều kiện khóa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STS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Luôn khóa — chỉ đổi qua Popup 0370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BID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BUG_ID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Luôn khóa — tự tạo (BUG0000001)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PRJ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PROJECT_ID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Khóa sau khi đặt từ context dự án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FNC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BUG_TYPE, PRIORITY, SEVERITY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Khóa với role Developer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DEV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DEV_ID, VERIFY_TESTER_ID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Khóa với role Tester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TST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TESTER_ID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Khóa với role Developer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EDT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Tất cả trường editable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Khóa ở chế độ Display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4944" y="5010912"/>
            <a:ext cx="45720" cy="512064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5010912"/>
            <a:ext cx="11039551" cy="512064"/>
          </a:xfrm>
          <a:prstGeom prst="rect">
            <a:avLst/>
          </a:prstGeom>
          <a:solidFill>
            <a:srgbClr val="00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084064"/>
            <a:ext cx="108292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8E8F4"/>
                </a:solidFill>
                <a:latin typeface="Segoe UI"/>
              </a:rPr>
              <a:t>Cơ chế: LOOP AT SCREEN ... MODIFY SCREEN trong module PBO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Quản Lý Bằng Chứng &amp; Thông Báo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978408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0C7FF"/>
                </a:solidFill>
                <a:latin typeface="Segoe UI"/>
              </a:rPr>
              <a:t>Bằng chứng — lưu trong ZBUG_EVIDENCE (RAWSTRING):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" y="1435608"/>
          <a:ext cx="11085271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348"/>
                <a:gridCol w="2438759"/>
                <a:gridCol w="1773643"/>
                <a:gridCol w="4877521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Template SMW0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Người dùng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Thời điểm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ZBT_TMPL_01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Bug_report.xlsx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Tester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Khi tạo / báo cáo lỗi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ZBT_TMPL_02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fix_report.xlsx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Developer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Bắt buộc trước khi → Fixed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ZBT_TMPL_03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confirm_report.xlsx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Tester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Khi xác nhận Final Testing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" y="3310128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0C7FF"/>
                </a:solidFill>
                <a:latin typeface="Segoe UI"/>
              </a:rPr>
              <a:t>Email tự động — CL_BCS API: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" y="3767328"/>
          <a:ext cx="11085271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5581"/>
                <a:gridCol w="775969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Sự kiện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Người nhận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CREATE / ASSIGN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Dev được phân công + Manager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STATUS_CHANGE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Dev + Tester liên quan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REJECT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Tester báo cáo lỗi ban đầu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Kết Quả UAT Vòng 1 (11–13/04/2026)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978408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0C7FF"/>
                </a:solidFill>
                <a:latin typeface="Segoe UI"/>
              </a:rPr>
              <a:t>Tổng quan: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" y="1389888"/>
          <a:ext cx="11085271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054"/>
                <a:gridCol w="2217054"/>
                <a:gridCol w="2217054"/>
                <a:gridCol w="2217054"/>
                <a:gridCol w="2217055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Segoe UI"/>
                        </a:rPr>
                        <a:t>Tổng ca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Segoe UI"/>
                        </a:rPr>
                        <a:t>Đạt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Segoe UI"/>
                        </a:rPr>
                        <a:t>Thất bại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Segoe UI"/>
                        </a:rPr>
                        <a:t>Bị chặn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Segoe UI"/>
                        </a:rPr>
                        <a:t>Tỷ lệ đạt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D8E8F4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D8E8F4"/>
                          </a:solidFill>
                          <a:latin typeface="Segoe UI"/>
                        </a:rPr>
                        <a:t>53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D8E8F4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82.8%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" y="2395728"/>
            <a:ext cx="110852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0C7FF"/>
                </a:solidFill>
                <a:latin typeface="Segoe UI"/>
              </a:rPr>
              <a:t>Top 4 lỗi nghiêm trọng nhất: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" y="2807208"/>
          <a:ext cx="110852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674"/>
                <a:gridCol w="8424805"/>
                <a:gridCol w="1662792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Mô tả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Mức độ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UAT-01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Custom Control không giải phóng → Short dump khi chuyển tab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UAT-09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Không có ma trận chuyển đổi → cho phép đảo ngược trạng thái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UAT-11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Manager bypass ma trận — gán trạng thái trực tiếp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UAT-08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Long text biến mất sau khi save &amp; reopen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94944" y="5294376"/>
            <a:ext cx="45720" cy="512064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" y="5294376"/>
            <a:ext cx="11039551" cy="512064"/>
          </a:xfrm>
          <a:prstGeom prst="rect">
            <a:avLst/>
          </a:prstGeom>
          <a:solidFill>
            <a:srgbClr val="00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367528"/>
            <a:ext cx="108292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8E8F4"/>
                </a:solidFill>
                <a:latin typeface="Segoe UI"/>
              </a:rPr>
              <a:t>Tất cả 11 lỗi đã phân tích nguyên nhân và sửa trong Giai đoạn F v5.0 (hoàn tất 16/04/2026)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QC Test Plan — 20 Test Suites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937"/>
                <a:gridCol w="7981395"/>
                <a:gridCol w="1551939"/>
              </a:tblGrid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TC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Suite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60"/>
                          </a:solidFill>
                          <a:latin typeface="Segoe UI"/>
                        </a:rPr>
                        <a:t>Số ca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TC-01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Luồng Điều hướng (tất cả screen transitions)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TC-08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Chuyển trạng thái — 10 TT + Popup 0370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TC-09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Engine Tự động Phân công (Phase A + B)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TC-15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Kiểm soát Truy cập theo Vai trò (RBAC)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TC-11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Dashboard Metrics (accuracy + realtime refresh)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TC-10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Bug Search 0210/0220 — bộ lọc đa trường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TC-19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Hồi quy — Xác minh 11 lỗi UAT không tái phát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TC-20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Trường hợp Biên &amp; Ranh giới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5304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TC-02→TC-18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Các suite còn lại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>~69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5305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D8E8F4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Tổng cộng (ước tính)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~210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6464808"/>
            <a:ext cx="98965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0B4CC"/>
                </a:solidFill>
                <a:latin typeface="Segoe UI"/>
              </a:rPr>
              <a:t>Mục tiêu: ≥ 95% pass  |  0 blocked  |  UAT Vòng 2 sau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Timeline Dự Án — 6 Giai Đoạn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263"/>
                <a:gridCol w="2217054"/>
                <a:gridCol w="6540309"/>
                <a:gridCol w="1773645"/>
              </a:tblGrid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GĐ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Tên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Kết quả chính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Trạng thái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Cơ sở CSDL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5 bảng tùy chỉnh, domain, number range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✅ Xong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Logic nghiệp vụ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6 Function Module (Create, AutoAssign, Email…)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✅ Xong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Giao diện Module Pool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8 màn hình, GUI Status, ALV Grid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✅ Xong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Tính năng nâng cao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SmartForms, Excel upload, F4, long text API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✅ Xong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Kiểm thử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QC 140 ca, UAT 64 ca, phát hiện 11 lỗi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✅ Xong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Nâng cao v5.0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10-state lifecycle, Popup 0370, Dashboard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⏳ Deploy chờ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6464808"/>
            <a:ext cx="98965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0B4CC"/>
                </a:solidFill>
                <a:latin typeface="Segoe UI"/>
              </a:rPr>
              <a:t>Code v5.0 hoàn tất: 16/04/2026  |  Deploy F11–F17: chờ thực hiện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Kế Hoạch Triển Khai v5.0 — 7 Bước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" y="978408"/>
          <a:ext cx="11085271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821"/>
                <a:gridCol w="997674"/>
                <a:gridCol w="9200776"/>
              </a:tblGrid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Bước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Công cụ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Segoe UI"/>
                        </a:rPr>
                        <a:t>Nội dung</a:t>
                      </a:r>
                    </a:p>
                  </a:txBody>
                  <a:tcPr>
                    <a:solidFill>
                      <a:srgbClr val="0088BB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F11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SE51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Tạo 4 màn hình mới: 0410, 0370, 0210, 0220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F12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SE41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Tạo 4 GUI Status + Title Bar; cập nhật STATUS_0200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F13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SE38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Copy 6 ABAP includes v5.0 → check → activate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F14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SE93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Đổi màn hình ban đầu: 0400 → 0410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F15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SE11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Tạo bảng ZBUG_EVIDENCE (RAWSTRING, 11 trường)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F16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SE38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Migration: status='6' → status='V' + COMMIT WORK</a:t>
                      </a:r>
                    </a:p>
                  </a:txBody>
                  <a:tcPr>
                    <a:solidFill>
                      <a:srgbClr val="001E58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F17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SMW0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D8E8F4"/>
                          </a:solidFill>
                          <a:latin typeface="Segoe UI"/>
                        </a:rPr>
                        <a:t>Upload 3 file mẫu: ZBT_TMPL_01 / 02 / 03</a:t>
                      </a:r>
                    </a:p>
                  </a:txBody>
                  <a:tcPr>
                    <a:solidFill>
                      <a:srgbClr val="00287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6464808"/>
            <a:ext cx="98965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0B4CC"/>
                </a:solidFill>
                <a:latin typeface="Segoe UI"/>
              </a:rPr>
              <a:t>Xác minh: /nZBUG_WS → Màn hình 0410 xuất hiện đầu tiên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3429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" cy="3429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74320"/>
            <a:ext cx="1108527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DE73C9"/>
                </a:solidFill>
                <a:latin typeface="Segoe UI"/>
              </a:rPr>
              <a:t>Tổng Kết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850392"/>
            <a:ext cx="11085271" cy="26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978408"/>
            <a:ext cx="11085271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0C7FF"/>
                </a:solidFill>
                <a:latin typeface="Segoe UI"/>
              </a:rPr>
              <a:t>Đã đạt được: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Hệ thống Bug Tracking chạy native trên SAP — không cần license bổ sung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Vòng đời 10 trạng thái được thực thi theo vai trò qua Popup 0370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Auto-assign 2 giai đoạn dựa trên SAP module + workload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Audit log bất biến — mọi thay đổi ghi vào ZBUG_HISTORY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Dashboard realtime trên màn hình 0200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11 lỗi UAT → phân tích và sửa hoàn toàn trong v5.0</a:t>
            </a:r>
          </a:p>
          <a:p>
            <a:r>
              <a:rPr sz="500" b="0">
                <a:solidFill>
                  <a:srgbClr val="D8E8F4"/>
                </a:solidFill>
                <a:latin typeface="Segoe UI"/>
              </a:rPr>
              <a:t/>
            </a:r>
          </a:p>
          <a:p>
            <a:r>
              <a:rPr sz="1650" b="1">
                <a:solidFill>
                  <a:srgbClr val="DE73C9"/>
                </a:solidFill>
                <a:latin typeface="Segoe UI"/>
              </a:rPr>
              <a:t>Còn lại: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Triển khai v5.0 lên SAP (F11–F17)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Chạy QC Test đầy đủ 20 suites (~210 ca)</a:t>
            </a:r>
          </a:p>
          <a:p>
            <a:r>
              <a:rPr sz="1500" b="0">
                <a:solidFill>
                  <a:srgbClr val="D8E8F4"/>
                </a:solidFill>
                <a:latin typeface="Segoe UI"/>
              </a:rPr>
              <a:t>  •  UAT Vòng 2 → 3 thành viên ký xác nhận chấp thuận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37719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09728" cy="30861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00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C7FF"/>
                </a:solidFill>
                <a:latin typeface="Segoe UI"/>
              </a:rPr>
              <a:t>Cảm Ơn &amp; Hỏi Đáp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154680"/>
            <a:ext cx="6858000" cy="38000"/>
          </a:xfrm>
          <a:prstGeom prst="rect">
            <a:avLst/>
          </a:prstGeom>
          <a:solidFill>
            <a:srgbClr val="DE7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8E8F4"/>
                </a:solidFill>
                <a:latin typeface="Segoe UI"/>
              </a:rPr>
              <a:t>ZBUG_WS v5.0 — SAP Bug Tracking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87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B4CC"/>
                </a:solidFill>
                <a:latin typeface="Segoe UI"/>
              </a:rPr>
              <a:t>Nhóm ZBUG  │  FPT University  │  Tháng 4 năm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6464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B4CC"/>
                </a:solidFill>
                <a:latin typeface="Segoe U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